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4"/>
  </p:sldMasterIdLst>
  <p:sldIdLst>
    <p:sldId id="257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9184DA70-C731-4C70-880D-CCD4705E623C}" type="datetime1">
              <a:rPr lang="en-US" smtClean="0"/>
              <a:t>10/6/2025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678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10/6/2025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7326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10/6/2025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169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10/6/2025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4098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10/6/2025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9633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10/6/2025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4702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10/6/2025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8379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EA474-078D-4E9B-9B14-09A87B19DC46}" type="datetime1">
              <a:rPr lang="en-US" smtClean="0"/>
              <a:t>10/6/2025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3188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7D986-8816-4272-A432-0437A28A9828}" type="datetime1">
              <a:rPr lang="en-US" smtClean="0"/>
              <a:t>10/6/2025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49547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10/6/2025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406040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10/6/2025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240858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10/6/2025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506258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10/6/2025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77714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10/6/2025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7252445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10/6/2025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8425851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B612A279-0833-481D-8C56-F67FD0AC6C50}" type="datetime1">
              <a:rPr lang="en-US" smtClean="0"/>
              <a:t>10/6/2025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76316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6587DA83-5663-4C9C-B9AA-0B40A3DAFF81}" type="datetime1">
              <a:rPr lang="en-US" smtClean="0"/>
              <a:t>10/6/2025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7320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62D6E202-B606-4609-B914-27C9371A1F6D}" type="datetime1">
              <a:rPr lang="en-US" smtClean="0"/>
              <a:t>10/6/2025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4523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37964" y="2532888"/>
            <a:ext cx="6253317" cy="896112"/>
          </a:xfrm>
        </p:spPr>
        <p:txBody>
          <a:bodyPr>
            <a:normAutofit fontScale="90000"/>
          </a:bodyPr>
          <a:lstStyle/>
          <a:p>
            <a:r>
              <a:rPr lang="en-US" sz="2800" dirty="0" err="1">
                <a:solidFill>
                  <a:schemeClr val="bg1"/>
                </a:solidFill>
                <a:latin typeface="Berlin Sans FB Demi" panose="020E0802020502020306" pitchFamily="34" charset="0"/>
              </a:rPr>
              <a:t>Talbina</a:t>
            </a:r>
            <a:r>
              <a:rPr lang="en-US" sz="2800" dirty="0">
                <a:solidFill>
                  <a:schemeClr val="bg1"/>
                </a:solidFill>
                <a:latin typeface="Berlin Sans FB Demi" panose="020E0802020502020306" pitchFamily="34" charset="0"/>
              </a:rPr>
              <a:t> Bliss Paste – Premium Functional Health Spread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27754" y="4672738"/>
            <a:ext cx="4927673" cy="310069"/>
          </a:xfrm>
        </p:spPr>
        <p:txBody>
          <a:bodyPr>
            <a:normAutofit fontScale="70000" lnSpcReduction="20000"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New product development project</a:t>
            </a:r>
          </a:p>
        </p:txBody>
      </p:sp>
      <p:pic>
        <p:nvPicPr>
          <p:cNvPr id="5" name="Picture 4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59FF798-D58D-2011-CA2B-0AB70BB7540B}"/>
              </a:ext>
            </a:extLst>
          </p:cNvPr>
          <p:cNvSpPr txBox="1"/>
          <p:nvPr/>
        </p:nvSpPr>
        <p:spPr>
          <a:xfrm>
            <a:off x="5427754" y="3601811"/>
            <a:ext cx="46353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“Wholesome comfort from Sunnah – nourished with barley &amp; dates.”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D2A45E-E9F9-790E-8714-BC2860FC7E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-32407"/>
            <a:ext cx="4635315" cy="6890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71361-9A78-FC61-B4F6-1CB1BAE0D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9938" y="1338470"/>
            <a:ext cx="3572123" cy="491656"/>
          </a:xfrm>
        </p:spPr>
        <p:txBody>
          <a:bodyPr>
            <a:noAutofit/>
          </a:bodyPr>
          <a:lstStyle/>
          <a:p>
            <a:r>
              <a:rPr lang="en-US" sz="3200" dirty="0">
                <a:latin typeface="Berlin Sans FB Demi" panose="020E0802020502020306" pitchFamily="34" charset="0"/>
              </a:rPr>
              <a:t>Product Concept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23CBC5-A71D-0A1C-93B0-306F123C3CE3}"/>
              </a:ext>
            </a:extLst>
          </p:cNvPr>
          <p:cNvSpPr txBox="1"/>
          <p:nvPr/>
        </p:nvSpPr>
        <p:spPr>
          <a:xfrm>
            <a:off x="1097280" y="2630124"/>
            <a:ext cx="760939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Talbina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Bliss Paste is a modern functional health spread made from barley flour and dates paste, inspired by Sunnah food principles. It serves as: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             - A Breakfast Spread,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             - A base for smoothies or desserts, or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             - A nutritious supplement for all age groups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It provides natural energy, gut friendly nutrition, and adaptogenic benefits.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Berlin Sans FB Demi" panose="020E0802020502020306" pitchFamily="34" charset="0"/>
                <a:cs typeface="Calibri" panose="020F0502020204030204" pitchFamily="34" charset="0"/>
              </a:rPr>
              <a:t>Product Type: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Semisolid functional paste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Berlin Sans FB Demi" panose="020E0802020502020306" pitchFamily="34" charset="0"/>
                <a:cs typeface="Calibri" panose="020F0502020204030204" pitchFamily="34" charset="0"/>
              </a:rPr>
              <a:t>Spread Category: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Functional &amp; Nutraceutical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Berlin Sans FB Demi" panose="020E0802020502020306" pitchFamily="34" charset="0"/>
                <a:cs typeface="Calibri" panose="020F0502020204030204" pitchFamily="34" charset="0"/>
              </a:rPr>
              <a:t>Food Target Audience</a:t>
            </a:r>
            <a:r>
              <a:rPr lang="en-US" dirty="0">
                <a:latin typeface="Berlin Sans FB Demi" panose="020E0802020502020306" pitchFamily="34" charset="0"/>
                <a:cs typeface="Calibri" panose="020F0502020204030204" pitchFamily="34" charset="0"/>
              </a:rPr>
              <a:t>: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Health-conscious consumers, diabetics, athletes, elderly Key Value Propositions 100% natural ingredients with no added preservatives Probiotic enriched for gut health support Balanced nutritional profile with functional benefits Inspired by traditional wellness practices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C2A73B-FD6D-1CD8-A3F7-107FDD1BA1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6678" y="3093950"/>
            <a:ext cx="3044273" cy="2756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5999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B74AF-2FE6-0421-F2B0-C0F258DB4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C319B-5AB3-4C7A-DEA2-04020EBAE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0129" y="1241073"/>
            <a:ext cx="6921280" cy="491656"/>
          </a:xfrm>
        </p:spPr>
        <p:txBody>
          <a:bodyPr>
            <a:noAutofit/>
          </a:bodyPr>
          <a:lstStyle/>
          <a:p>
            <a:r>
              <a:rPr lang="en-US" sz="3200" dirty="0">
                <a:latin typeface="Berlin Sans FB Demi" panose="020E0802020502020306" pitchFamily="34" charset="0"/>
              </a:rPr>
              <a:t>Recipe (1Kg batch formulation)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365C7F-AE4A-94A5-4453-73407B6E834D}"/>
              </a:ext>
            </a:extLst>
          </p:cNvPr>
          <p:cNvSpPr txBox="1"/>
          <p:nvPr/>
        </p:nvSpPr>
        <p:spPr>
          <a:xfrm>
            <a:off x="911750" y="3112414"/>
            <a:ext cx="11015207" cy="25853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Barley Flour (roasted)                     380g                         180                              68.4              Base, Beta glucan source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Dates Paste                                       320g                         300                              96.0              Natural sweetener,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antioxi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Skim Mik Powder                             40g                           800                              32.0              Protein enrichment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Flaxseed Powder                              50g                           450                              22.5              Omega-3, Fiber                      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Olive Oil/ Coconut oil                       60g                          700                              42.0               Mouthfeel, lipid balance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Chia Seed(soaked 1:3 water)          30g                          900                              27.0               PUFA, thickener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Cinnamon                                           2g                            2000                            4.0                 Natural Flavor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Natural antioxidant (Vit E /              1g                            3500                            3.5                 Shelf stability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rosemary extract)                  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28692F4-47FB-A3C7-42C6-AF31A3804699}"/>
              </a:ext>
            </a:extLst>
          </p:cNvPr>
          <p:cNvGrpSpPr/>
          <p:nvPr/>
        </p:nvGrpSpPr>
        <p:grpSpPr>
          <a:xfrm>
            <a:off x="1272871" y="2563673"/>
            <a:ext cx="9646258" cy="409088"/>
            <a:chOff x="1325217" y="2272125"/>
            <a:chExt cx="9646258" cy="409088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6EB9B83-4983-C912-47F3-354A1C22322C}"/>
                </a:ext>
              </a:extLst>
            </p:cNvPr>
            <p:cNvSpPr txBox="1"/>
            <p:nvPr/>
          </p:nvSpPr>
          <p:spPr>
            <a:xfrm>
              <a:off x="1325217" y="2281103"/>
              <a:ext cx="147099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latin typeface="Berlin Sans FB Demi" panose="020E0802020502020306" pitchFamily="34" charset="0"/>
                  <a:cs typeface="Calibri" panose="020F0502020204030204" pitchFamily="34" charset="0"/>
                </a:rPr>
                <a:t>Ingredients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C3A4039-C4F0-E70F-C798-455FA61542B7}"/>
                </a:ext>
              </a:extLst>
            </p:cNvPr>
            <p:cNvSpPr txBox="1"/>
            <p:nvPr/>
          </p:nvSpPr>
          <p:spPr>
            <a:xfrm>
              <a:off x="4100223" y="2281103"/>
              <a:ext cx="147099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latin typeface="Berlin Sans FB Demi" panose="020E0802020502020306" pitchFamily="34" charset="0"/>
                  <a:cs typeface="Calibri" panose="020F0502020204030204" pitchFamily="34" charset="0"/>
                </a:rPr>
                <a:t>Quantity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E594C05-B064-1CEF-AAF1-718F2C7D9CE1}"/>
                </a:ext>
              </a:extLst>
            </p:cNvPr>
            <p:cNvSpPr txBox="1"/>
            <p:nvPr/>
          </p:nvSpPr>
          <p:spPr>
            <a:xfrm>
              <a:off x="5868725" y="2281103"/>
              <a:ext cx="191162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latin typeface="Berlin Sans FB Demi" panose="020E0802020502020306" pitchFamily="34" charset="0"/>
                  <a:cs typeface="Calibri" panose="020F0502020204030204" pitchFamily="34" charset="0"/>
                </a:rPr>
                <a:t>Rate (Rs./kg)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14F4464-FE2D-3305-FB1F-4A0E8658D08B}"/>
                </a:ext>
              </a:extLst>
            </p:cNvPr>
            <p:cNvSpPr txBox="1"/>
            <p:nvPr/>
          </p:nvSpPr>
          <p:spPr>
            <a:xfrm>
              <a:off x="7904922" y="2281103"/>
              <a:ext cx="147099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latin typeface="Berlin Sans FB Demi" panose="020E0802020502020306" pitchFamily="34" charset="0"/>
                  <a:cs typeface="Calibri" panose="020F0502020204030204" pitchFamily="34" charset="0"/>
                </a:rPr>
                <a:t>Cost(Rs.)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36BEC58-D4D8-EB4B-EACB-EA1F245A3315}"/>
                </a:ext>
              </a:extLst>
            </p:cNvPr>
            <p:cNvSpPr txBox="1"/>
            <p:nvPr/>
          </p:nvSpPr>
          <p:spPr>
            <a:xfrm>
              <a:off x="9500483" y="2272125"/>
              <a:ext cx="147099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latin typeface="Berlin Sans FB Demi" panose="020E0802020502020306" pitchFamily="34" charset="0"/>
                  <a:cs typeface="Calibri" panose="020F0502020204030204" pitchFamily="34" charset="0"/>
                </a:rPr>
                <a:t>Function</a:t>
              </a:r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63432A0-4B57-A8E2-00D7-ECCACD1565D6}"/>
              </a:ext>
            </a:extLst>
          </p:cNvPr>
          <p:cNvCxnSpPr>
            <a:cxnSpLocks/>
          </p:cNvCxnSpPr>
          <p:nvPr/>
        </p:nvCxnSpPr>
        <p:spPr>
          <a:xfrm>
            <a:off x="4047877" y="3112414"/>
            <a:ext cx="0" cy="25853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381F339-D7ED-03F8-E7BF-B530C726AD8D}"/>
              </a:ext>
            </a:extLst>
          </p:cNvPr>
          <p:cNvCxnSpPr>
            <a:cxnSpLocks/>
          </p:cNvCxnSpPr>
          <p:nvPr/>
        </p:nvCxnSpPr>
        <p:spPr>
          <a:xfrm>
            <a:off x="5645426" y="3112414"/>
            <a:ext cx="0" cy="25853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3311F51-6864-8F38-F537-C3301F8DE905}"/>
              </a:ext>
            </a:extLst>
          </p:cNvPr>
          <p:cNvCxnSpPr>
            <a:cxnSpLocks/>
          </p:cNvCxnSpPr>
          <p:nvPr/>
        </p:nvCxnSpPr>
        <p:spPr>
          <a:xfrm>
            <a:off x="7494104" y="3109101"/>
            <a:ext cx="0" cy="25886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0E35E19-A2E5-E3FF-9092-2874EDA049D6}"/>
              </a:ext>
            </a:extLst>
          </p:cNvPr>
          <p:cNvCxnSpPr>
            <a:cxnSpLocks/>
          </p:cNvCxnSpPr>
          <p:nvPr/>
        </p:nvCxnSpPr>
        <p:spPr>
          <a:xfrm>
            <a:off x="8852452" y="3109101"/>
            <a:ext cx="0" cy="25886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3099768-E426-8949-B8B3-C0757AD83D2B}"/>
              </a:ext>
            </a:extLst>
          </p:cNvPr>
          <p:cNvCxnSpPr>
            <a:cxnSpLocks/>
          </p:cNvCxnSpPr>
          <p:nvPr/>
        </p:nvCxnSpPr>
        <p:spPr>
          <a:xfrm>
            <a:off x="911750" y="3429000"/>
            <a:ext cx="1101520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042C6FB-362C-E5B9-FD1B-02340ECEAEC6}"/>
              </a:ext>
            </a:extLst>
          </p:cNvPr>
          <p:cNvCxnSpPr>
            <a:cxnSpLocks/>
          </p:cNvCxnSpPr>
          <p:nvPr/>
        </p:nvCxnSpPr>
        <p:spPr>
          <a:xfrm>
            <a:off x="911750" y="3727174"/>
            <a:ext cx="1101520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0BFEE28-05B3-1649-5F4E-B41017696D7E}"/>
              </a:ext>
            </a:extLst>
          </p:cNvPr>
          <p:cNvCxnSpPr>
            <a:cxnSpLocks/>
          </p:cNvCxnSpPr>
          <p:nvPr/>
        </p:nvCxnSpPr>
        <p:spPr>
          <a:xfrm>
            <a:off x="911750" y="3978965"/>
            <a:ext cx="1101520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AD66D3F-0D84-1F2A-2C26-F948D42C3F55}"/>
              </a:ext>
            </a:extLst>
          </p:cNvPr>
          <p:cNvCxnSpPr>
            <a:cxnSpLocks/>
          </p:cNvCxnSpPr>
          <p:nvPr/>
        </p:nvCxnSpPr>
        <p:spPr>
          <a:xfrm>
            <a:off x="911750" y="4257261"/>
            <a:ext cx="1101520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6D470CE-A411-37D8-0CA1-171FE30AE45D}"/>
              </a:ext>
            </a:extLst>
          </p:cNvPr>
          <p:cNvCxnSpPr>
            <a:cxnSpLocks/>
          </p:cNvCxnSpPr>
          <p:nvPr/>
        </p:nvCxnSpPr>
        <p:spPr>
          <a:xfrm>
            <a:off x="911750" y="4540262"/>
            <a:ext cx="1101520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BA15333-D92B-1B8C-131D-94C1EFE6EC9B}"/>
              </a:ext>
            </a:extLst>
          </p:cNvPr>
          <p:cNvCxnSpPr>
            <a:cxnSpLocks/>
          </p:cNvCxnSpPr>
          <p:nvPr/>
        </p:nvCxnSpPr>
        <p:spPr>
          <a:xfrm>
            <a:off x="911750" y="4800600"/>
            <a:ext cx="1101520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67CF59F-804F-E95B-A11E-F08AD7D8CE30}"/>
              </a:ext>
            </a:extLst>
          </p:cNvPr>
          <p:cNvCxnSpPr>
            <a:cxnSpLocks/>
          </p:cNvCxnSpPr>
          <p:nvPr/>
        </p:nvCxnSpPr>
        <p:spPr>
          <a:xfrm>
            <a:off x="911750" y="5052391"/>
            <a:ext cx="1101520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606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80711-C131-840F-97A0-DDD7F116B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7B765-C08E-8274-A4F5-99E1DABB9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4608" y="1241073"/>
            <a:ext cx="6722497" cy="491656"/>
          </a:xfrm>
        </p:spPr>
        <p:txBody>
          <a:bodyPr>
            <a:noAutofit/>
          </a:bodyPr>
          <a:lstStyle/>
          <a:p>
            <a:r>
              <a:rPr lang="en-US" sz="3200" dirty="0">
                <a:latin typeface="Berlin Sans FB Demi" panose="020E0802020502020306" pitchFamily="34" charset="0"/>
              </a:rPr>
              <a:t>Nutritional Profile(Per 30 g serving)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1FBD97-7598-FBEA-2785-828ED4A7090F}"/>
              </a:ext>
            </a:extLst>
          </p:cNvPr>
          <p:cNvSpPr txBox="1"/>
          <p:nvPr/>
        </p:nvSpPr>
        <p:spPr>
          <a:xfrm>
            <a:off x="1393796" y="3308603"/>
            <a:ext cx="62841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Energy                                               120 - 140 kcal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Protein                                              4 - 5 g           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Fat                                                      3 – 4 g (mainly unsaturated)                      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Carbohydrates                                  18 – 20 g                       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Fiber                                                   3 - 4 g                      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Iron                                                     1.5 ,mg             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Calcium                                              50 – 60 mg                     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Antioxidants                                      High (from dates + seeds)                        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DBDD8E-BA0D-D72D-E9E9-394879F20C11}"/>
              </a:ext>
            </a:extLst>
          </p:cNvPr>
          <p:cNvSpPr txBox="1"/>
          <p:nvPr/>
        </p:nvSpPr>
        <p:spPr>
          <a:xfrm>
            <a:off x="1393796" y="2794853"/>
            <a:ext cx="14709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Berlin Sans FB Demi" panose="020E0802020502020306" pitchFamily="34" charset="0"/>
                <a:cs typeface="Calibri" panose="020F0502020204030204" pitchFamily="34" charset="0"/>
              </a:rPr>
              <a:t>Nutrient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751F01-8220-1BB9-1350-5F60F60DC2D8}"/>
              </a:ext>
            </a:extLst>
          </p:cNvPr>
          <p:cNvSpPr txBox="1"/>
          <p:nvPr/>
        </p:nvSpPr>
        <p:spPr>
          <a:xfrm>
            <a:off x="4535886" y="2794853"/>
            <a:ext cx="23449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Berlin Sans FB Demi" panose="020E0802020502020306" pitchFamily="34" charset="0"/>
                <a:cs typeface="Calibri" panose="020F0502020204030204" pitchFamily="34" charset="0"/>
              </a:rPr>
              <a:t>Approx. Value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A6308E-74C5-99B3-14D9-069945997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5032" y="2281103"/>
            <a:ext cx="2455646" cy="3821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072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8455B-73BF-3562-2FDD-94F0E23B3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A063D-0D99-AE91-8D9C-B587628B6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8207" y="1325218"/>
            <a:ext cx="3115586" cy="491656"/>
          </a:xfrm>
        </p:spPr>
        <p:txBody>
          <a:bodyPr>
            <a:noAutofit/>
          </a:bodyPr>
          <a:lstStyle/>
          <a:p>
            <a:r>
              <a:rPr lang="en-US" sz="3200" dirty="0">
                <a:latin typeface="Berlin Sans FB Demi" panose="020E0802020502020306" pitchFamily="34" charset="0"/>
              </a:rPr>
              <a:t>Processing Steps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246A84-34BA-826E-4104-4955A06BE0BB}"/>
              </a:ext>
            </a:extLst>
          </p:cNvPr>
          <p:cNvSpPr txBox="1"/>
          <p:nvPr/>
        </p:nvSpPr>
        <p:spPr>
          <a:xfrm>
            <a:off x="964759" y="2189188"/>
            <a:ext cx="2586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lphaUcPeriod"/>
            </a:pPr>
            <a:r>
              <a:rPr lang="en-US" sz="2000" b="1" dirty="0">
                <a:latin typeface="Berlin Sans FB Demi" panose="020E0802020502020306" pitchFamily="34" charset="0"/>
                <a:cs typeface="Calibri" panose="020F0502020204030204" pitchFamily="34" charset="0"/>
              </a:rPr>
              <a:t>Lab Scale Process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30E89C-8CDC-E2CC-D822-D6EC33D2B031}"/>
              </a:ext>
            </a:extLst>
          </p:cNvPr>
          <p:cNvSpPr txBox="1"/>
          <p:nvPr/>
        </p:nvSpPr>
        <p:spPr>
          <a:xfrm>
            <a:off x="1587610" y="2589298"/>
            <a:ext cx="878884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Berlin Sans FB Demi" panose="020E0802020502020306" pitchFamily="34" charset="0"/>
                <a:cs typeface="Calibri" panose="020F0502020204030204" pitchFamily="34" charset="0"/>
              </a:rPr>
              <a:t>1. Ingredient Prep: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Clean and roast barley flour at 80-100°C for nutty flavor.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Soak dates, remove seeds, and grind into smooth paste.</a:t>
            </a:r>
          </a:p>
          <a:p>
            <a:r>
              <a:rPr lang="en-US" b="1" dirty="0">
                <a:latin typeface="Berlin Sans FB Demi" panose="020E0802020502020306" pitchFamily="34" charset="0"/>
                <a:cs typeface="Calibri" panose="020F0502020204030204" pitchFamily="34" charset="0"/>
              </a:rPr>
              <a:t>2. Blending:</a:t>
            </a:r>
          </a:p>
          <a:p>
            <a:r>
              <a:rPr lang="en-US" b="1" dirty="0">
                <a:latin typeface="Berlin Sans FB Demi" panose="020E0802020502020306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Mix barley flour, date paste, and functional ingredients (flax, chia, oats).</a:t>
            </a:r>
          </a:p>
          <a:p>
            <a:r>
              <a:rPr lang="en-US" b="1" dirty="0">
                <a:latin typeface="Berlin Sans FB Demi" panose="020E0802020502020306" pitchFamily="34" charset="0"/>
                <a:cs typeface="Calibri" panose="020F0502020204030204" pitchFamily="34" charset="0"/>
              </a:rPr>
              <a:t>3. Cooking: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Heat mixture at 85-90°C for 10-15 min to thicken and sterilize.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Add oils, flavors</a:t>
            </a:r>
          </a:p>
          <a:p>
            <a:r>
              <a:rPr lang="en-US" b="1" dirty="0">
                <a:latin typeface="Berlin Sans FB Demi" panose="020E0802020502020306" pitchFamily="34" charset="0"/>
                <a:cs typeface="Calibri" panose="020F0502020204030204" pitchFamily="34" charset="0"/>
              </a:rPr>
              <a:t>4. Homogenization: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Blend to smooth, uniform paste.</a:t>
            </a:r>
          </a:p>
          <a:p>
            <a:r>
              <a:rPr lang="en-US" b="1" dirty="0">
                <a:latin typeface="Berlin Sans FB Demi" panose="020E0802020502020306" pitchFamily="34" charset="0"/>
                <a:cs typeface="Calibri" panose="020F0502020204030204" pitchFamily="34" charset="0"/>
              </a:rPr>
              <a:t>5. Filling &amp; Packaging: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Hot-fill in glass jars or laminated pouches.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Seal, cool rapidly.</a:t>
            </a:r>
          </a:p>
          <a:p>
            <a:r>
              <a:rPr lang="en-US" b="1" dirty="0">
                <a:latin typeface="Berlin Sans FB Demi" panose="020E0802020502020306" pitchFamily="34" charset="0"/>
                <a:cs typeface="Calibri" panose="020F0502020204030204" pitchFamily="34" charset="0"/>
              </a:rPr>
              <a:t>6. Storage: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Ambient storage (25°C) for up to 3-4 months.</a:t>
            </a:r>
          </a:p>
        </p:txBody>
      </p:sp>
    </p:spTree>
    <p:extLst>
      <p:ext uri="{BB962C8B-B14F-4D97-AF65-F5344CB8AC3E}">
        <p14:creationId xmlns:p14="http://schemas.microsoft.com/office/powerpoint/2010/main" val="18962039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35383-F0BD-71E3-4888-9538FA5AF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3A310-4FE2-8F1B-82B0-E77CD576B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8207" y="1325218"/>
            <a:ext cx="3115586" cy="491656"/>
          </a:xfrm>
        </p:spPr>
        <p:txBody>
          <a:bodyPr>
            <a:noAutofit/>
          </a:bodyPr>
          <a:lstStyle/>
          <a:p>
            <a:r>
              <a:rPr lang="en-US" sz="3200" dirty="0" err="1">
                <a:latin typeface="Berlin Sans FB Demi" panose="020E0802020502020306" pitchFamily="34" charset="0"/>
              </a:rPr>
              <a:t>Equipments</a:t>
            </a:r>
            <a:endParaRPr lang="en-US" sz="3200" dirty="0">
              <a:latin typeface="Berlin Sans FB Demi" panose="020E0802020502020306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EDC5E6-F0E4-0385-9AE1-8F6744CA2F95}"/>
              </a:ext>
            </a:extLst>
          </p:cNvPr>
          <p:cNvSpPr txBox="1"/>
          <p:nvPr/>
        </p:nvSpPr>
        <p:spPr>
          <a:xfrm>
            <a:off x="1178118" y="2637488"/>
            <a:ext cx="342171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Hot plate or double boiler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Blender/grinder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Beaker/stirrer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Jar sealer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Texture analyzer (optional)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Microbial plates &amp; moisture mete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D51565-D14F-7CE5-047C-3D13EF6DC717}"/>
              </a:ext>
            </a:extLst>
          </p:cNvPr>
          <p:cNvSpPr txBox="1"/>
          <p:nvPr/>
        </p:nvSpPr>
        <p:spPr>
          <a:xfrm>
            <a:off x="7133646" y="2237378"/>
            <a:ext cx="2586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Berlin Sans FB Demi" panose="020E0802020502020306" pitchFamily="34" charset="0"/>
                <a:cs typeface="Calibri" panose="020F0502020204030204" pitchFamily="34" charset="0"/>
              </a:rPr>
              <a:t>B. Industrial Scale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94B73F-934B-74AA-0B59-17F33B075BFB}"/>
              </a:ext>
            </a:extLst>
          </p:cNvPr>
          <p:cNvSpPr txBox="1"/>
          <p:nvPr/>
        </p:nvSpPr>
        <p:spPr>
          <a:xfrm>
            <a:off x="1178118" y="2236411"/>
            <a:ext cx="2586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lphaUcPeriod"/>
            </a:pPr>
            <a:r>
              <a:rPr lang="en-US" sz="2000" b="1" dirty="0">
                <a:latin typeface="Berlin Sans FB Demi" panose="020E0802020502020306" pitchFamily="34" charset="0"/>
                <a:cs typeface="Calibri" panose="020F0502020204030204" pitchFamily="34" charset="0"/>
              </a:rPr>
              <a:t>Lab Scale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F2C0CC-53CC-85D9-7D9B-D1A9107E9195}"/>
              </a:ext>
            </a:extLst>
          </p:cNvPr>
          <p:cNvSpPr txBox="1"/>
          <p:nvPr/>
        </p:nvSpPr>
        <p:spPr>
          <a:xfrm>
            <a:off x="7133646" y="2657882"/>
            <a:ext cx="279620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Roaster, 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    steam kettle, 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    homogenizer, 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    pasteurizer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Form-fill-seal machine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DD1D99-CF48-36A2-A36C-1EA70046D446}"/>
              </a:ext>
            </a:extLst>
          </p:cNvPr>
          <p:cNvSpPr txBox="1"/>
          <p:nvPr/>
        </p:nvSpPr>
        <p:spPr>
          <a:xfrm>
            <a:off x="1178118" y="4668813"/>
            <a:ext cx="3750365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erlin Sans FB Demi" panose="020E0802020502020306" pitchFamily="34" charset="0"/>
                <a:cs typeface="Calibri" panose="020F0502020204030204" pitchFamily="34" charset="0"/>
              </a:rPr>
              <a:t>C. Quality Control Tests: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pH (4.8-5.5)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Aw (≤0.6)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Moisture (%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)Microbial load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Sensory evaluation (9-point scale)</a:t>
            </a:r>
          </a:p>
        </p:txBody>
      </p:sp>
    </p:spTree>
    <p:extLst>
      <p:ext uri="{BB962C8B-B14F-4D97-AF65-F5344CB8AC3E}">
        <p14:creationId xmlns:p14="http://schemas.microsoft.com/office/powerpoint/2010/main" val="3876152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9F215-C466-1D79-ABE7-A8FC6B121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5CC3D-3E96-3247-D80B-346E977FF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8207" y="1325218"/>
            <a:ext cx="3115586" cy="491656"/>
          </a:xfrm>
        </p:spPr>
        <p:txBody>
          <a:bodyPr>
            <a:noAutofit/>
          </a:bodyPr>
          <a:lstStyle/>
          <a:p>
            <a:r>
              <a:rPr lang="en-US" sz="3200" dirty="0">
                <a:latin typeface="Berlin Sans FB Demi" panose="020E0802020502020306" pitchFamily="34" charset="0"/>
              </a:rPr>
              <a:t>Product Nature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B25068-D05F-4485-85F5-BD73936DB232}"/>
              </a:ext>
            </a:extLst>
          </p:cNvPr>
          <p:cNvSpPr txBox="1"/>
          <p:nvPr/>
        </p:nvSpPr>
        <p:spPr>
          <a:xfrm>
            <a:off x="991263" y="2075282"/>
            <a:ext cx="2586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lphaUcPeriod"/>
            </a:pPr>
            <a:r>
              <a:rPr lang="en-US" sz="2000" b="1" dirty="0">
                <a:latin typeface="Berlin Sans FB Demi" panose="020E0802020502020306" pitchFamily="34" charset="0"/>
                <a:cs typeface="Calibri" panose="020F0502020204030204" pitchFamily="34" charset="0"/>
              </a:rPr>
              <a:t>Attribute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1A504D-35B9-4865-CF6D-9F2FA40BCE3E}"/>
              </a:ext>
            </a:extLst>
          </p:cNvPr>
          <p:cNvSpPr txBox="1"/>
          <p:nvPr/>
        </p:nvSpPr>
        <p:spPr>
          <a:xfrm>
            <a:off x="1415332" y="2372884"/>
            <a:ext cx="878884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Category: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Functional traditional paste / Health spread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Form: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Smooth paste (ready-to-eat)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Texture: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Thick, creamy, spreadable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Color: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Light brown to caramel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Flavor: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Sweet malty with date aroma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Target Consumers: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Health-conscious adults, kids, elderly, Muslims preferring Sunnah-based foods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Shelf-life: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3-6 months (depends on moisture and packaging type)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35BB13-BBC8-C5ED-FEED-F8074478F0F9}"/>
              </a:ext>
            </a:extLst>
          </p:cNvPr>
          <p:cNvSpPr txBox="1"/>
          <p:nvPr/>
        </p:nvSpPr>
        <p:spPr>
          <a:xfrm>
            <a:off x="991263" y="4613343"/>
            <a:ext cx="2586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Berlin Sans FB Demi" panose="020E0802020502020306" pitchFamily="34" charset="0"/>
                <a:cs typeface="Calibri" panose="020F0502020204030204" pitchFamily="34" charset="0"/>
              </a:rPr>
              <a:t>B. Shelf Stability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DF628A-34BC-F07F-51B3-888FD7D2AAAB}"/>
              </a:ext>
            </a:extLst>
          </p:cNvPr>
          <p:cNvSpPr txBox="1"/>
          <p:nvPr/>
        </p:nvSpPr>
        <p:spPr>
          <a:xfrm>
            <a:off x="1415332" y="4978810"/>
            <a:ext cx="87888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Moisture Content: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&lt;12%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Water activity: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&lt;0.60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Preservatives: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Thick, creamy, spreadable Natural Antioxidants (vit E, rosemary)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5DBCFC-2F1C-7474-EE93-151DEBFDEE8D}"/>
              </a:ext>
            </a:extLst>
          </p:cNvPr>
          <p:cNvSpPr txBox="1"/>
          <p:nvPr/>
        </p:nvSpPr>
        <p:spPr>
          <a:xfrm>
            <a:off x="1415332" y="5772834"/>
            <a:ext cx="87888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Packaging: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Airtight, opaque pouch/jar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Storage: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Cool, dry place</a:t>
            </a:r>
          </a:p>
        </p:txBody>
      </p:sp>
    </p:spTree>
    <p:extLst>
      <p:ext uri="{BB962C8B-B14F-4D97-AF65-F5344CB8AC3E}">
        <p14:creationId xmlns:p14="http://schemas.microsoft.com/office/powerpoint/2010/main" val="7046989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4CE85-B1A7-4ADB-9E16-200ABB80E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775B3-46E4-B317-6EF2-7A9029A4E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8207" y="1325218"/>
            <a:ext cx="3797410" cy="491656"/>
          </a:xfrm>
        </p:spPr>
        <p:txBody>
          <a:bodyPr>
            <a:noAutofit/>
          </a:bodyPr>
          <a:lstStyle/>
          <a:p>
            <a:r>
              <a:rPr lang="en-US" sz="3200" dirty="0">
                <a:latin typeface="Berlin Sans FB Demi" panose="020E0802020502020306" pitchFamily="34" charset="0"/>
              </a:rPr>
              <a:t>Market Strategy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C801BE4-8726-7787-E2D5-C252E64D99A1}"/>
              </a:ext>
            </a:extLst>
          </p:cNvPr>
          <p:cNvGrpSpPr/>
          <p:nvPr/>
        </p:nvGrpSpPr>
        <p:grpSpPr>
          <a:xfrm>
            <a:off x="1017768" y="2406586"/>
            <a:ext cx="8033467" cy="4130144"/>
            <a:chOff x="991263" y="2075282"/>
            <a:chExt cx="9212910" cy="4130144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25779C7-C105-C4B9-3516-3E832FA8ED5D}"/>
                </a:ext>
              </a:extLst>
            </p:cNvPr>
            <p:cNvSpPr txBox="1"/>
            <p:nvPr/>
          </p:nvSpPr>
          <p:spPr>
            <a:xfrm>
              <a:off x="991263" y="2075282"/>
              <a:ext cx="258682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+mj-lt"/>
                <a:buAutoNum type="alphaUcPeriod"/>
              </a:pPr>
              <a:r>
                <a:rPr lang="en-US" sz="2000" b="1" dirty="0">
                  <a:latin typeface="Berlin Sans FB Demi" panose="020E0802020502020306" pitchFamily="34" charset="0"/>
                  <a:cs typeface="Calibri" panose="020F0502020204030204" pitchFamily="34" charset="0"/>
                </a:rPr>
                <a:t>Positioning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DD47F5A-E134-4172-565B-05C5E350EC7D}"/>
                </a:ext>
              </a:extLst>
            </p:cNvPr>
            <p:cNvSpPr txBox="1"/>
            <p:nvPr/>
          </p:nvSpPr>
          <p:spPr>
            <a:xfrm>
              <a:off x="1415332" y="2372884"/>
              <a:ext cx="87888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"Functional Sunnah Superfood“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"Natural energy &amp; gut-friendly "</a:t>
              </a: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EBFC7CDA-E4E2-12BF-99A6-ADD4B64026BD}"/>
                </a:ext>
              </a:extLst>
            </p:cNvPr>
            <p:cNvGrpSpPr/>
            <p:nvPr/>
          </p:nvGrpSpPr>
          <p:grpSpPr>
            <a:xfrm>
              <a:off x="991263" y="3073834"/>
              <a:ext cx="9212910" cy="1288797"/>
              <a:chOff x="991263" y="4613343"/>
              <a:chExt cx="9212910" cy="1288797"/>
            </a:xfrm>
          </p:grpSpPr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C0EC552-6A3E-A12A-348F-31F6D29C6904}"/>
                  </a:ext>
                </a:extLst>
              </p:cNvPr>
              <p:cNvSpPr txBox="1"/>
              <p:nvPr/>
            </p:nvSpPr>
            <p:spPr>
              <a:xfrm>
                <a:off x="991263" y="4613343"/>
                <a:ext cx="258682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latin typeface="Berlin Sans FB Demi" panose="020E0802020502020306" pitchFamily="34" charset="0"/>
                    <a:cs typeface="Calibri" panose="020F0502020204030204" pitchFamily="34" charset="0"/>
                  </a:rPr>
                  <a:t>B. </a:t>
                </a:r>
                <a:r>
                  <a:rPr lang="en-US" sz="2000" dirty="0">
                    <a:latin typeface="Berlin Sans FB Demi" panose="020E0802020502020306" pitchFamily="34" charset="0"/>
                    <a:cs typeface="Calibri" panose="020F0502020204030204" pitchFamily="34" charset="0"/>
                  </a:rPr>
                  <a:t>Target Market</a:t>
                </a:r>
                <a:endParaRPr lang="en-US" sz="2000" b="1" dirty="0">
                  <a:latin typeface="Berlin Sans FB Demi" panose="020E0802020502020306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155A27F-4075-B26B-3AB2-15D062634B0A}"/>
                  </a:ext>
                </a:extLst>
              </p:cNvPr>
              <p:cNvSpPr txBox="1"/>
              <p:nvPr/>
            </p:nvSpPr>
            <p:spPr>
              <a:xfrm>
                <a:off x="1415332" y="4978810"/>
                <a:ext cx="8788841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Health-conscious urban consumers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Muslim families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Fitness and wellness enthusiasts</a:t>
                </a: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DE91F17-6970-3D43-FA4B-95A8D3A26A6E}"/>
                </a:ext>
              </a:extLst>
            </p:cNvPr>
            <p:cNvSpPr txBox="1"/>
            <p:nvPr/>
          </p:nvSpPr>
          <p:spPr>
            <a:xfrm>
              <a:off x="991263" y="4362631"/>
              <a:ext cx="334219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latin typeface="Berlin Sans FB Demi" panose="020E0802020502020306" pitchFamily="34" charset="0"/>
                  <a:cs typeface="Calibri" panose="020F0502020204030204" pitchFamily="34" charset="0"/>
                </a:rPr>
                <a:t>C. Marketing Channels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611CFA1-2CE7-2217-988F-881CC1DFC925}"/>
                </a:ext>
              </a:extLst>
            </p:cNvPr>
            <p:cNvSpPr txBox="1"/>
            <p:nvPr/>
          </p:nvSpPr>
          <p:spPr>
            <a:xfrm>
              <a:off x="1415332" y="4728098"/>
              <a:ext cx="6096000" cy="1477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Online wellness stores, Islamic nutrition shops, organic outlets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Cafés &amp; breakfast bars for B2B use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Influencer marketing focusing on "Sunnah foods with science</a:t>
              </a:r>
              <a:endParaRPr lang="en-US" dirty="0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53FAD6AE-B472-0233-85B1-8AA779199087}"/>
              </a:ext>
            </a:extLst>
          </p:cNvPr>
          <p:cNvSpPr txBox="1"/>
          <p:nvPr/>
        </p:nvSpPr>
        <p:spPr>
          <a:xfrm>
            <a:off x="6445081" y="4111317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Talbina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Bliss Cocoa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Talbina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Bliss with Almond &amp; Honey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Talbina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Bliss with Probiotic &amp; Cinnamon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FE7AB9-F1CD-8B6E-CB31-ABD622731DA0}"/>
              </a:ext>
            </a:extLst>
          </p:cNvPr>
          <p:cNvSpPr txBox="1"/>
          <p:nvPr/>
        </p:nvSpPr>
        <p:spPr>
          <a:xfrm>
            <a:off x="6703133" y="2478573"/>
            <a:ext cx="29143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Berlin Sans FB Demi" panose="020E0802020502020306" pitchFamily="34" charset="0"/>
                <a:cs typeface="Calibri" panose="020F0502020204030204" pitchFamily="34" charset="0"/>
              </a:rPr>
              <a:t>C. </a:t>
            </a:r>
            <a:r>
              <a:rPr lang="en-US" sz="2000" dirty="0">
                <a:latin typeface="Berlin Sans FB Demi" panose="020E0802020502020306" pitchFamily="34" charset="0"/>
                <a:cs typeface="Calibri" panose="020F0502020204030204" pitchFamily="34" charset="0"/>
              </a:rPr>
              <a:t>Packaging Design</a:t>
            </a:r>
            <a:endParaRPr lang="en-US" sz="2000" b="1" dirty="0">
              <a:latin typeface="Berlin Sans FB Demi" panose="020E0802020502020306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134FC8-0951-3194-9E27-56B6533E85E5}"/>
              </a:ext>
            </a:extLst>
          </p:cNvPr>
          <p:cNvSpPr txBox="1"/>
          <p:nvPr/>
        </p:nvSpPr>
        <p:spPr>
          <a:xfrm>
            <a:off x="6445081" y="2792656"/>
            <a:ext cx="494699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Earth-tone jars or sachets with Arabic calligraphy-inspired labeling.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QR code for benefits and recipe uses.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8544336-1FB3-7717-FCC3-0ED8EB3A62C5}"/>
              </a:ext>
            </a:extLst>
          </p:cNvPr>
          <p:cNvSpPr txBox="1"/>
          <p:nvPr/>
        </p:nvSpPr>
        <p:spPr>
          <a:xfrm>
            <a:off x="6703133" y="3713705"/>
            <a:ext cx="41013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Berlin Sans FB Demi" panose="020E0802020502020306" pitchFamily="34" charset="0"/>
                <a:cs typeface="Calibri" panose="020F0502020204030204" pitchFamily="34" charset="0"/>
              </a:rPr>
              <a:t>D. Variants (Future Expansion)</a:t>
            </a:r>
          </a:p>
        </p:txBody>
      </p:sp>
    </p:spTree>
    <p:extLst>
      <p:ext uri="{BB962C8B-B14F-4D97-AF65-F5344CB8AC3E}">
        <p14:creationId xmlns:p14="http://schemas.microsoft.com/office/powerpoint/2010/main" val="19583108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E9E1A-1FC6-8D91-E0D8-AE3D2541B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8248D-DCF1-0FEF-CC33-3BDAD4FE1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8207" y="1325218"/>
            <a:ext cx="3797410" cy="491656"/>
          </a:xfrm>
        </p:spPr>
        <p:txBody>
          <a:bodyPr>
            <a:noAutofit/>
          </a:bodyPr>
          <a:lstStyle/>
          <a:p>
            <a:r>
              <a:rPr lang="en-US" sz="3200" dirty="0">
                <a:latin typeface="Berlin Sans FB Demi" panose="020E0802020502020306" pitchFamily="34" charset="0"/>
              </a:rPr>
              <a:t>Financial Snapshot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F9F0079-1B57-D318-D8C0-2F6B4DE09EB4}"/>
              </a:ext>
            </a:extLst>
          </p:cNvPr>
          <p:cNvGrpSpPr/>
          <p:nvPr/>
        </p:nvGrpSpPr>
        <p:grpSpPr>
          <a:xfrm>
            <a:off x="1017768" y="3405138"/>
            <a:ext cx="5685365" cy="2023596"/>
            <a:chOff x="991263" y="3073834"/>
            <a:chExt cx="6520069" cy="2023596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FA275FC-FC7F-522C-2E9F-6CBE653F7749}"/>
                </a:ext>
              </a:extLst>
            </p:cNvPr>
            <p:cNvSpPr txBox="1"/>
            <p:nvPr/>
          </p:nvSpPr>
          <p:spPr>
            <a:xfrm>
              <a:off x="991263" y="3073834"/>
              <a:ext cx="258682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2000" b="1" dirty="0">
                <a:latin typeface="Berlin Sans FB Demi" panose="020E0802020502020306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8441836-74C0-FA8C-D09F-F7DC6C7EEF53}"/>
                </a:ext>
              </a:extLst>
            </p:cNvPr>
            <p:cNvSpPr txBox="1"/>
            <p:nvPr/>
          </p:nvSpPr>
          <p:spPr>
            <a:xfrm>
              <a:off x="1415332" y="4728098"/>
              <a:ext cx="6096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dirty="0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7EBB4051-B977-1B68-9FD1-9112F74DC57D}"/>
              </a:ext>
            </a:extLst>
          </p:cNvPr>
          <p:cNvSpPr txBox="1"/>
          <p:nvPr/>
        </p:nvSpPr>
        <p:spPr>
          <a:xfrm>
            <a:off x="801290" y="5012833"/>
            <a:ext cx="976069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 Demi" panose="020E0802020502020306" pitchFamily="34" charset="0"/>
              </a:rPr>
              <a:t>Profit Margin:</a:t>
            </a:r>
            <a:r>
              <a:rPr lang="en-US" dirty="0"/>
              <a:t>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~40-50%</a:t>
            </a:r>
          </a:p>
          <a:p>
            <a:r>
              <a:rPr lang="en-US" b="1" dirty="0">
                <a:latin typeface="Berlin Sans FB Demi" panose="020E0802020502020306" pitchFamily="34" charset="0"/>
              </a:rPr>
              <a:t>If sold in local market (mass):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Use pouch packaging reduce packaging cost to Rs. 50/kg</a:t>
            </a:r>
          </a:p>
          <a:p>
            <a:r>
              <a:rPr lang="en-US" dirty="0">
                <a:latin typeface="Berlin Sans FB Demi" panose="020E0802020502020306" pitchFamily="34" charset="0"/>
              </a:rPr>
              <a:t>Retail price: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Rs. 950/kg</a:t>
            </a:r>
          </a:p>
          <a:p>
            <a:r>
              <a:rPr lang="en-US" b="1" dirty="0"/>
              <a:t>Profit margin: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25-30%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2CB6D980-6187-C13F-E957-BD818B8A6A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1835057"/>
              </p:ext>
            </p:extLst>
          </p:nvPr>
        </p:nvGraphicFramePr>
        <p:xfrm>
          <a:off x="1920309" y="2653016"/>
          <a:ext cx="8128000" cy="23831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24572554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090555242"/>
                    </a:ext>
                  </a:extLst>
                </a:gridCol>
              </a:tblGrid>
              <a:tr h="52890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8584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8728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 Packaging (premium jar)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4038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 Processing (labor + energy)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6933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    Total Production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0348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          Retail 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7411827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A9E5ED1A-CABC-8EF8-7839-8BD547D67927}"/>
              </a:ext>
            </a:extLst>
          </p:cNvPr>
          <p:cNvSpPr txBox="1"/>
          <p:nvPr/>
        </p:nvSpPr>
        <p:spPr>
          <a:xfrm>
            <a:off x="2820937" y="2675349"/>
            <a:ext cx="22556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Berlin Sans FB Demi" panose="020E0802020502020306" pitchFamily="34" charset="0"/>
                <a:cs typeface="Calibri" panose="020F0502020204030204" pitchFamily="34" charset="0"/>
              </a:rPr>
              <a:t>Cost Component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6822CD6-1653-D6FD-C480-4537B4E2812B}"/>
              </a:ext>
            </a:extLst>
          </p:cNvPr>
          <p:cNvSpPr txBox="1"/>
          <p:nvPr/>
        </p:nvSpPr>
        <p:spPr>
          <a:xfrm>
            <a:off x="6335295" y="2687971"/>
            <a:ext cx="32890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Berlin Sans FB Demi" panose="020E0802020502020306" pitchFamily="34" charset="0"/>
              </a:rPr>
              <a:t>Estimated (per 1 kg batch)</a:t>
            </a:r>
            <a:endParaRPr lang="en-US" sz="2000" b="1" dirty="0">
              <a:solidFill>
                <a:schemeClr val="bg1"/>
              </a:solidFill>
              <a:latin typeface="Berlin Sans FB Demi" panose="020E0802020502020306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CB6195B-CCF6-9FA7-3076-F08524F94EDC}"/>
              </a:ext>
            </a:extLst>
          </p:cNvPr>
          <p:cNvSpPr txBox="1"/>
          <p:nvPr/>
        </p:nvSpPr>
        <p:spPr>
          <a:xfrm>
            <a:off x="2997060" y="3148538"/>
            <a:ext cx="14220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Ingredients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9687E9-D1C3-7384-41F8-9D9AB1A9A122}"/>
              </a:ext>
            </a:extLst>
          </p:cNvPr>
          <p:cNvSpPr txBox="1"/>
          <p:nvPr/>
        </p:nvSpPr>
        <p:spPr>
          <a:xfrm>
            <a:off x="7322316" y="3136288"/>
            <a:ext cx="11025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Rs. 550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F42DAAA-159E-FE20-C288-4F142FD4AD83}"/>
              </a:ext>
            </a:extLst>
          </p:cNvPr>
          <p:cNvSpPr txBox="1"/>
          <p:nvPr/>
        </p:nvSpPr>
        <p:spPr>
          <a:xfrm>
            <a:off x="7322316" y="3538590"/>
            <a:ext cx="11025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Rs. 150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96C54F2-3FDE-268B-F377-9884518A862D}"/>
              </a:ext>
            </a:extLst>
          </p:cNvPr>
          <p:cNvSpPr txBox="1"/>
          <p:nvPr/>
        </p:nvSpPr>
        <p:spPr>
          <a:xfrm>
            <a:off x="7322316" y="3911395"/>
            <a:ext cx="11025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Rs. 100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A403731-C39D-CE0A-7EE3-B835FEC0BDE2}"/>
              </a:ext>
            </a:extLst>
          </p:cNvPr>
          <p:cNvSpPr txBox="1"/>
          <p:nvPr/>
        </p:nvSpPr>
        <p:spPr>
          <a:xfrm>
            <a:off x="7322316" y="4280727"/>
            <a:ext cx="15301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Rs. 800/kg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3815858-22F5-6444-C52B-FD56895C1CA3}"/>
              </a:ext>
            </a:extLst>
          </p:cNvPr>
          <p:cNvSpPr txBox="1"/>
          <p:nvPr/>
        </p:nvSpPr>
        <p:spPr>
          <a:xfrm>
            <a:off x="7322316" y="4647146"/>
            <a:ext cx="21397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Rs. 1200-1300/kg </a:t>
            </a:r>
          </a:p>
        </p:txBody>
      </p:sp>
    </p:spTree>
    <p:extLst>
      <p:ext uri="{BB962C8B-B14F-4D97-AF65-F5344CB8AC3E}">
        <p14:creationId xmlns:p14="http://schemas.microsoft.com/office/powerpoint/2010/main" val="3311144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C2E3F-54CC-4599-B69A-1C3F72B53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7CDFF-BF4D-24A7-B2A9-F9145CF24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5563" y="1262235"/>
            <a:ext cx="5639463" cy="491656"/>
          </a:xfrm>
        </p:spPr>
        <p:txBody>
          <a:bodyPr>
            <a:noAutofit/>
          </a:bodyPr>
          <a:lstStyle/>
          <a:p>
            <a:r>
              <a:rPr lang="en-US" sz="3200" dirty="0">
                <a:latin typeface="Berlin Sans FB Demi" panose="020E0802020502020306" pitchFamily="34" charset="0"/>
              </a:rPr>
              <a:t>Additional Production Cost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322E800-35E2-FF6C-91A0-DF97342377B5}"/>
              </a:ext>
            </a:extLst>
          </p:cNvPr>
          <p:cNvGrpSpPr/>
          <p:nvPr/>
        </p:nvGrpSpPr>
        <p:grpSpPr>
          <a:xfrm>
            <a:off x="1017768" y="3405138"/>
            <a:ext cx="5685365" cy="2023596"/>
            <a:chOff x="991263" y="3073834"/>
            <a:chExt cx="6520069" cy="2023596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BFA1AD2-1BAE-D992-9CE9-977B851C79F3}"/>
                </a:ext>
              </a:extLst>
            </p:cNvPr>
            <p:cNvSpPr txBox="1"/>
            <p:nvPr/>
          </p:nvSpPr>
          <p:spPr>
            <a:xfrm>
              <a:off x="991263" y="3073834"/>
              <a:ext cx="258682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2000" b="1" dirty="0">
                <a:latin typeface="Berlin Sans FB Demi" panose="020E0802020502020306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DD3659F-309B-64CE-6384-2BDF64845377}"/>
                </a:ext>
              </a:extLst>
            </p:cNvPr>
            <p:cNvSpPr txBox="1"/>
            <p:nvPr/>
          </p:nvSpPr>
          <p:spPr>
            <a:xfrm>
              <a:off x="1415332" y="4728098"/>
              <a:ext cx="6096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dirty="0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3B3BE171-D7FA-38BC-6541-6E562161D5B7}"/>
              </a:ext>
            </a:extLst>
          </p:cNvPr>
          <p:cNvSpPr txBox="1"/>
          <p:nvPr/>
        </p:nvSpPr>
        <p:spPr>
          <a:xfrm>
            <a:off x="721778" y="5205560"/>
            <a:ext cx="976069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 Demi" panose="020E0802020502020306" pitchFamily="34" charset="0"/>
              </a:rPr>
              <a:t>Total cost of production: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= Rs. 550 (ingredients) + Rs. 300 (processing &amp; packaging)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= Rs. 850 per kg</a:t>
            </a:r>
          </a:p>
          <a:p>
            <a:r>
              <a:rPr lang="en-US" dirty="0">
                <a:latin typeface="Berlin Sans FB Demi" panose="020E0802020502020306" pitchFamily="34" charset="0"/>
              </a:rPr>
              <a:t>Profit: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570 Rs. in premium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vs.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320 in pouches </a:t>
            </a:r>
          </a:p>
          <a:p>
            <a:r>
              <a:rPr lang="en-US" dirty="0">
                <a:latin typeface="Berlin Sans FB Demi" panose="020E0802020502020306" pitchFamily="34" charset="0"/>
              </a:rPr>
              <a:t>Margin:</a:t>
            </a:r>
            <a:r>
              <a:rPr lang="en-US" dirty="0"/>
              <a:t>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47.5% in premium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 vs.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33.7% in pouches 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79E0CD0B-CEDC-6B8C-F024-15E1303BB9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5530280"/>
              </p:ext>
            </p:extLst>
          </p:nvPr>
        </p:nvGraphicFramePr>
        <p:xfrm>
          <a:off x="2438400" y="2653016"/>
          <a:ext cx="7076661" cy="24437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29878">
                  <a:extLst>
                    <a:ext uri="{9D8B030D-6E8A-4147-A177-3AD203B41FA5}">
                      <a16:colId xmlns:a16="http://schemas.microsoft.com/office/drawing/2014/main" val="4245725542"/>
                    </a:ext>
                  </a:extLst>
                </a:gridCol>
                <a:gridCol w="3246783">
                  <a:extLst>
                    <a:ext uri="{9D8B030D-6E8A-4147-A177-3AD203B41FA5}">
                      <a16:colId xmlns:a16="http://schemas.microsoft.com/office/drawing/2014/main" val="1090555242"/>
                    </a:ext>
                  </a:extLst>
                </a:gridCol>
              </a:tblGrid>
              <a:tr h="52890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8584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8728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 Labor &amp; Processing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4038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           Utilities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6933073"/>
                  </a:ext>
                </a:extLst>
              </a:tr>
              <a:tr h="436589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Quality testing &amp; overhead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03485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  premium vs pouch    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         Rs. 1200 vs 950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7411827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232BBCF1-A248-9E72-697C-81CB27D2A548}"/>
              </a:ext>
            </a:extLst>
          </p:cNvPr>
          <p:cNvSpPr txBox="1"/>
          <p:nvPr/>
        </p:nvSpPr>
        <p:spPr>
          <a:xfrm>
            <a:off x="3187524" y="2673404"/>
            <a:ext cx="22556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Berlin Sans FB Demi" panose="020E0802020502020306" pitchFamily="34" charset="0"/>
                <a:cs typeface="Calibri" panose="020F0502020204030204" pitchFamily="34" charset="0"/>
              </a:rPr>
              <a:t>Cost Component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4B31358-A90E-F02D-2B0C-040E36CEE74D}"/>
              </a:ext>
            </a:extLst>
          </p:cNvPr>
          <p:cNvSpPr txBox="1"/>
          <p:nvPr/>
        </p:nvSpPr>
        <p:spPr>
          <a:xfrm>
            <a:off x="6335295" y="2687971"/>
            <a:ext cx="32890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Berlin Sans FB Demi" panose="020E0802020502020306" pitchFamily="34" charset="0"/>
              </a:rPr>
              <a:t>Estimated (per 1 kg batch)</a:t>
            </a:r>
            <a:endParaRPr lang="en-US" sz="2000" b="1" dirty="0">
              <a:solidFill>
                <a:schemeClr val="bg1"/>
              </a:solidFill>
              <a:latin typeface="Berlin Sans FB Demi" panose="020E0802020502020306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42ADD44-DF79-F63D-2371-9C98F3519E4D}"/>
              </a:ext>
            </a:extLst>
          </p:cNvPr>
          <p:cNvSpPr txBox="1"/>
          <p:nvPr/>
        </p:nvSpPr>
        <p:spPr>
          <a:xfrm>
            <a:off x="3334314" y="3169258"/>
            <a:ext cx="14220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Packaging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B434B4B-4FDE-56D0-83DE-A1B2111E75A7}"/>
              </a:ext>
            </a:extLst>
          </p:cNvPr>
          <p:cNvSpPr txBox="1"/>
          <p:nvPr/>
        </p:nvSpPr>
        <p:spPr>
          <a:xfrm>
            <a:off x="7322316" y="3136288"/>
            <a:ext cx="11025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Rs. 150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EA92137-3EBA-1C47-ECA4-708C644F7020}"/>
              </a:ext>
            </a:extLst>
          </p:cNvPr>
          <p:cNvSpPr txBox="1"/>
          <p:nvPr/>
        </p:nvSpPr>
        <p:spPr>
          <a:xfrm>
            <a:off x="7322316" y="3538590"/>
            <a:ext cx="11025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Rs. 100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1C0A82E-23C2-1DE2-3A6B-CCFFDD205EEC}"/>
              </a:ext>
            </a:extLst>
          </p:cNvPr>
          <p:cNvSpPr txBox="1"/>
          <p:nvPr/>
        </p:nvSpPr>
        <p:spPr>
          <a:xfrm>
            <a:off x="7322316" y="3911395"/>
            <a:ext cx="11025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Rs. 30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503A478-0E5B-52C5-87B4-AE3194D3EB70}"/>
              </a:ext>
            </a:extLst>
          </p:cNvPr>
          <p:cNvSpPr txBox="1"/>
          <p:nvPr/>
        </p:nvSpPr>
        <p:spPr>
          <a:xfrm>
            <a:off x="7322316" y="4280727"/>
            <a:ext cx="15301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Rs. 20 </a:t>
            </a:r>
          </a:p>
        </p:txBody>
      </p:sp>
    </p:spTree>
    <p:extLst>
      <p:ext uri="{BB962C8B-B14F-4D97-AF65-F5344CB8AC3E}">
        <p14:creationId xmlns:p14="http://schemas.microsoft.com/office/powerpoint/2010/main" val="39055632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CD24C98-3055-7C7E-072B-669012120DBB}"/>
              </a:ext>
            </a:extLst>
          </p:cNvPr>
          <p:cNvSpPr txBox="1"/>
          <p:nvPr/>
        </p:nvSpPr>
        <p:spPr>
          <a:xfrm>
            <a:off x="2517913" y="3087756"/>
            <a:ext cx="738146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rlin Sans FB Demi" panose="020E0802020502020306" pitchFamily="34" charset="0"/>
              </a:rPr>
              <a:t>GROUP MEMBERS</a:t>
            </a:r>
            <a:r>
              <a:rPr lang="en-US" dirty="0"/>
              <a:t>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AQSA KANWAL                            2022-fste-017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ALI RAZA                                       2022-fste-048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NEHA KHAN                                  2022-fste-047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ALI ABBAS                                     2022-fste-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AREESHA FATIMA                         2022-fste-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18211897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224</TotalTime>
  <Words>912</Words>
  <Application>Microsoft Office PowerPoint</Application>
  <PresentationFormat>Widescreen</PresentationFormat>
  <Paragraphs>151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Berlin Sans FB Demi</vt:lpstr>
      <vt:lpstr>Calibri</vt:lpstr>
      <vt:lpstr>Century Gothic</vt:lpstr>
      <vt:lpstr>Wingdings 3</vt:lpstr>
      <vt:lpstr>Ion Boardroom</vt:lpstr>
      <vt:lpstr>Talbina Bliss Paste – Premium Functional Health Spread</vt:lpstr>
      <vt:lpstr>Product Concept</vt:lpstr>
      <vt:lpstr>Recipe (1Kg batch formulation)</vt:lpstr>
      <vt:lpstr>Nutritional Profile(Per 30 g serving)</vt:lpstr>
      <vt:lpstr>Processing Steps</vt:lpstr>
      <vt:lpstr>Equipments</vt:lpstr>
      <vt:lpstr>Product Nature</vt:lpstr>
      <vt:lpstr>Market Strategy</vt:lpstr>
      <vt:lpstr>Financial Snapshot</vt:lpstr>
      <vt:lpstr>Additional Production Cost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Bc230214761 vu</dc:creator>
  <cp:lastModifiedBy>Bc230214761 vu</cp:lastModifiedBy>
  <cp:revision>1</cp:revision>
  <dcterms:created xsi:type="dcterms:W3CDTF">2025-10-06T15:37:48Z</dcterms:created>
  <dcterms:modified xsi:type="dcterms:W3CDTF">2025-10-06T19:22:35Z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